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C12BBC-5BE4-4938-95C2-26509FB97B52}">
  <a:tblStyle styleId="{08C12BBC-5BE4-4938-95C2-26509FB97B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3940d4e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3940d4e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3940d4e7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3940d4e7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3940d4e7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3940d4e7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3940d4e7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3940d4e7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3940d4e7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3940d4e7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Annual Activities Report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Xxx Club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Event Name: Majlis Peluncuran Jelajah Yakin Anjuran Pejabat Menteri Besar Perak </a:t>
            </a:r>
            <a:endParaRPr sz="2020"/>
          </a:p>
        </p:txBody>
      </p:sp>
      <p:sp>
        <p:nvSpPr>
          <p:cNvPr id="61" name="Google Shape;61;p14"/>
          <p:cNvSpPr txBox="1"/>
          <p:nvPr>
            <p:ph idx="1" type="body"/>
          </p:nvPr>
        </p:nvSpPr>
        <p:spPr>
          <a:xfrm>
            <a:off x="311700" y="15582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600">
                <a:solidFill>
                  <a:schemeClr val="dk1"/>
                </a:solidFill>
              </a:rPr>
              <a:t>Date: 22nd April 2026 </a:t>
            </a:r>
            <a:endParaRPr sz="1600">
              <a:solidFill>
                <a:schemeClr val="dk1"/>
              </a:solidFill>
            </a:endParaRPr>
          </a:p>
          <a:p>
            <a:pPr indent="0" lvl="0" marL="0" rtl="0" algn="l">
              <a:lnSpc>
                <a:spcPct val="105000"/>
              </a:lnSpc>
              <a:spcBef>
                <a:spcPts val="1200"/>
              </a:spcBef>
              <a:spcAft>
                <a:spcPts val="0"/>
              </a:spcAft>
              <a:buNone/>
            </a:pPr>
            <a:r>
              <a:rPr lang="en" sz="1600">
                <a:solidFill>
                  <a:schemeClr val="dk1"/>
                </a:solidFill>
              </a:rPr>
              <a:t>Time: 2 p.m. - 5 p.m. </a:t>
            </a:r>
            <a:endParaRPr sz="1600">
              <a:solidFill>
                <a:schemeClr val="dk1"/>
              </a:solidFill>
            </a:endParaRPr>
          </a:p>
          <a:p>
            <a:pPr indent="0" lvl="0" marL="0" rtl="0" algn="l">
              <a:lnSpc>
                <a:spcPct val="105000"/>
              </a:lnSpc>
              <a:spcBef>
                <a:spcPts val="1200"/>
              </a:spcBef>
              <a:spcAft>
                <a:spcPts val="0"/>
              </a:spcAft>
              <a:buNone/>
            </a:pPr>
            <a:r>
              <a:rPr lang="en" sz="1600">
                <a:solidFill>
                  <a:schemeClr val="dk1"/>
                </a:solidFill>
              </a:rPr>
              <a:t>Venue: Dewan Banquet, Bangunan Perak Darul Ridzuan </a:t>
            </a:r>
            <a:endParaRPr sz="1600">
              <a:solidFill>
                <a:schemeClr val="dk1"/>
              </a:solidFill>
            </a:endParaRPr>
          </a:p>
          <a:p>
            <a:pPr indent="0" lvl="0" marL="0" rtl="0" algn="l">
              <a:lnSpc>
                <a:spcPct val="105000"/>
              </a:lnSpc>
              <a:spcBef>
                <a:spcPts val="1200"/>
              </a:spcBef>
              <a:spcAft>
                <a:spcPts val="1200"/>
              </a:spcAft>
              <a:buNone/>
            </a:pPr>
            <a:r>
              <a:rPr lang="en" sz="1600">
                <a:solidFill>
                  <a:schemeClr val="dk1"/>
                </a:solidFill>
              </a:rPr>
              <a:t>Details: The QSRC members attended the Majlis Peluncuran Bual Bicara Jelajah Yakin, organised by the Unit Komunikasi Strategik Negeri Perak. The event featured YAB Dato’ Seri Saarani Mohamad, Menteri Besar Perak Darul Ridzuan, and served as a platform to highlight state initiatives, promote public engagement, and strengthen awareness of development efforts and assistance programmes introduced for the benefit of the community</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Event Photos</a:t>
            </a:r>
            <a:endParaRPr/>
          </a:p>
        </p:txBody>
      </p:sp>
      <p:pic>
        <p:nvPicPr>
          <p:cNvPr id="67" name="Google Shape;67;p15"/>
          <p:cNvPicPr preferRelativeResize="0"/>
          <p:nvPr/>
        </p:nvPicPr>
        <p:blipFill>
          <a:blip r:embed="rId3">
            <a:alphaModFix/>
          </a:blip>
          <a:stretch>
            <a:fillRect/>
          </a:stretch>
        </p:blipFill>
        <p:spPr>
          <a:xfrm>
            <a:off x="311700" y="1017725"/>
            <a:ext cx="3551875" cy="2175850"/>
          </a:xfrm>
          <a:prstGeom prst="rect">
            <a:avLst/>
          </a:prstGeom>
          <a:noFill/>
          <a:ln>
            <a:noFill/>
          </a:ln>
        </p:spPr>
      </p:pic>
      <p:pic>
        <p:nvPicPr>
          <p:cNvPr id="68" name="Google Shape;68;p15"/>
          <p:cNvPicPr preferRelativeResize="0"/>
          <p:nvPr/>
        </p:nvPicPr>
        <p:blipFill>
          <a:blip r:embed="rId4">
            <a:alphaModFix/>
          </a:blip>
          <a:stretch>
            <a:fillRect/>
          </a:stretch>
        </p:blipFill>
        <p:spPr>
          <a:xfrm>
            <a:off x="4076725" y="1017725"/>
            <a:ext cx="3220782" cy="2175850"/>
          </a:xfrm>
          <a:prstGeom prst="rect">
            <a:avLst/>
          </a:prstGeom>
          <a:noFill/>
          <a:ln>
            <a:noFill/>
          </a:ln>
        </p:spPr>
      </p:pic>
      <p:pic>
        <p:nvPicPr>
          <p:cNvPr id="69" name="Google Shape;69;p15"/>
          <p:cNvPicPr preferRelativeResize="0"/>
          <p:nvPr/>
        </p:nvPicPr>
        <p:blipFill>
          <a:blip r:embed="rId5">
            <a:alphaModFix/>
          </a:blip>
          <a:stretch>
            <a:fillRect/>
          </a:stretch>
        </p:blipFill>
        <p:spPr>
          <a:xfrm>
            <a:off x="311700" y="3373775"/>
            <a:ext cx="3075814" cy="1645125"/>
          </a:xfrm>
          <a:prstGeom prst="rect">
            <a:avLst/>
          </a:prstGeom>
          <a:noFill/>
          <a:ln>
            <a:noFill/>
          </a:ln>
        </p:spPr>
      </p:pic>
      <p:pic>
        <p:nvPicPr>
          <p:cNvPr id="70" name="Google Shape;70;p15"/>
          <p:cNvPicPr preferRelativeResize="0"/>
          <p:nvPr/>
        </p:nvPicPr>
        <p:blipFill>
          <a:blip r:embed="rId6">
            <a:alphaModFix/>
          </a:blip>
          <a:stretch>
            <a:fillRect/>
          </a:stretch>
        </p:blipFill>
        <p:spPr>
          <a:xfrm>
            <a:off x="4076725" y="3498375"/>
            <a:ext cx="2240289" cy="1645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List of Activities</a:t>
            </a:r>
            <a:endParaRPr/>
          </a:p>
        </p:txBody>
      </p:sp>
      <p:graphicFrame>
        <p:nvGraphicFramePr>
          <p:cNvPr id="76" name="Google Shape;76;p16"/>
          <p:cNvGraphicFramePr/>
          <p:nvPr/>
        </p:nvGraphicFramePr>
        <p:xfrm>
          <a:off x="424250" y="1152475"/>
          <a:ext cx="3000000" cy="3000000"/>
        </p:xfrm>
        <a:graphic>
          <a:graphicData uri="http://schemas.openxmlformats.org/drawingml/2006/table">
            <a:tbl>
              <a:tblPr>
                <a:noFill/>
                <a:tableStyleId>{08C12BBC-5BE4-4938-95C2-26509FB97B52}</a:tableStyleId>
              </a:tblPr>
              <a:tblGrid>
                <a:gridCol w="466825"/>
                <a:gridCol w="5109850"/>
                <a:gridCol w="1662325"/>
              </a:tblGrid>
              <a:tr h="381000">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Event Name</a:t>
                      </a:r>
                      <a:endParaRPr/>
                    </a:p>
                  </a:txBody>
                  <a:tcPr marT="91425" marB="91425" marR="91425" marL="91425"/>
                </a:tc>
                <a:tc>
                  <a:txBody>
                    <a:bodyPr/>
                    <a:lstStyle/>
                    <a:p>
                      <a:pPr indent="0" lvl="0" marL="0" rtl="0" algn="l">
                        <a:spcBef>
                          <a:spcPts val="0"/>
                        </a:spcBef>
                        <a:spcAft>
                          <a:spcPts val="0"/>
                        </a:spcAft>
                        <a:buNone/>
                      </a:pPr>
                      <a:r>
                        <a:rPr lang="en"/>
                        <a:t>Event Date</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Event Name: </a:t>
            </a:r>
            <a:endParaRPr sz="2020"/>
          </a:p>
        </p:txBody>
      </p:sp>
      <p:sp>
        <p:nvSpPr>
          <p:cNvPr id="82" name="Google Shape;82;p17"/>
          <p:cNvSpPr txBox="1"/>
          <p:nvPr>
            <p:ph idx="1" type="body"/>
          </p:nvPr>
        </p:nvSpPr>
        <p:spPr>
          <a:xfrm>
            <a:off x="311700" y="15582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600">
                <a:solidFill>
                  <a:schemeClr val="dk1"/>
                </a:solidFill>
              </a:rPr>
              <a:t>Date: </a:t>
            </a:r>
            <a:endParaRPr sz="1600">
              <a:solidFill>
                <a:schemeClr val="dk1"/>
              </a:solidFill>
            </a:endParaRPr>
          </a:p>
          <a:p>
            <a:pPr indent="0" lvl="0" marL="0" rtl="0" algn="l">
              <a:lnSpc>
                <a:spcPct val="105000"/>
              </a:lnSpc>
              <a:spcBef>
                <a:spcPts val="1200"/>
              </a:spcBef>
              <a:spcAft>
                <a:spcPts val="0"/>
              </a:spcAft>
              <a:buNone/>
            </a:pPr>
            <a:r>
              <a:rPr lang="en" sz="1600">
                <a:solidFill>
                  <a:schemeClr val="dk1"/>
                </a:solidFill>
              </a:rPr>
              <a:t>Time: </a:t>
            </a:r>
            <a:endParaRPr sz="1600">
              <a:solidFill>
                <a:schemeClr val="dk1"/>
              </a:solidFill>
            </a:endParaRPr>
          </a:p>
          <a:p>
            <a:pPr indent="0" lvl="0" marL="0" rtl="0" algn="l">
              <a:lnSpc>
                <a:spcPct val="105000"/>
              </a:lnSpc>
              <a:spcBef>
                <a:spcPts val="1200"/>
              </a:spcBef>
              <a:spcAft>
                <a:spcPts val="0"/>
              </a:spcAft>
              <a:buNone/>
            </a:pPr>
            <a:r>
              <a:rPr lang="en" sz="1600">
                <a:solidFill>
                  <a:schemeClr val="dk1"/>
                </a:solidFill>
              </a:rPr>
              <a:t>Venue: </a:t>
            </a:r>
            <a:endParaRPr sz="1600">
              <a:solidFill>
                <a:schemeClr val="dk1"/>
              </a:solidFill>
            </a:endParaRPr>
          </a:p>
          <a:p>
            <a:pPr indent="0" lvl="0" marL="0" rtl="0" algn="l">
              <a:lnSpc>
                <a:spcPct val="105000"/>
              </a:lnSpc>
              <a:spcBef>
                <a:spcPts val="1200"/>
              </a:spcBef>
              <a:spcAft>
                <a:spcPts val="1200"/>
              </a:spcAft>
              <a:buNone/>
            </a:pPr>
            <a:r>
              <a:rPr lang="en" sz="1600">
                <a:solidFill>
                  <a:schemeClr val="dk1"/>
                </a:solidFill>
              </a:rPr>
              <a:t>Details: </a:t>
            </a:r>
            <a:endParaRPr sz="1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Event Photos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